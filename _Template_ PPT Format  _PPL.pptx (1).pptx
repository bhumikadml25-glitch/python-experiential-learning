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4" r:id="rId8"/>
    <p:sldId id="263" r:id="rId9"/>
    <p:sldId id="265" r:id="rId10"/>
    <p:sldId id="266" r:id="rId11"/>
    <p:sldId id="258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039" autoAdjust="0"/>
  </p:normalViewPr>
  <p:slideViewPr>
    <p:cSldViewPr>
      <p:cViewPr varScale="1">
        <p:scale>
          <a:sx n="82" d="100"/>
          <a:sy n="82" d="100"/>
        </p:scale>
        <p:origin x="147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9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9" y="6546849"/>
                </a:lnTo>
                <a:close/>
              </a:path>
            </a:pathLst>
          </a:custGeom>
          <a:ln w="9524">
            <a:solidFill>
              <a:srgbClr val="79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48426" y="2896496"/>
            <a:ext cx="3082925" cy="756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hlink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10/11/2026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838200" y="285368"/>
            <a:ext cx="7543800" cy="149015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0"/>
              </a:spcBef>
            </a:pPr>
            <a:r>
              <a:rPr lang="en-US" sz="3200" dirty="0">
                <a:solidFill>
                  <a:srgbClr val="000000"/>
                </a:solidFill>
                <a:latin typeface="Times New Roman"/>
                <a:cs typeface="Times New Roman"/>
              </a:rPr>
              <a:t>Experiential</a:t>
            </a:r>
            <a:r>
              <a:rPr lang="en-US" sz="3200" spc="-60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10" dirty="0">
                <a:solidFill>
                  <a:srgbClr val="000000"/>
                </a:solidFill>
                <a:latin typeface="Times New Roman"/>
                <a:cs typeface="Times New Roman"/>
              </a:rPr>
              <a:t>Learning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Project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 </a:t>
            </a:r>
            <a:r>
              <a:rPr lang="en-US" sz="3200" spc="-30" dirty="0">
                <a:solidFill>
                  <a:srgbClr val="000000"/>
                </a:solidFill>
                <a:latin typeface="Times New Roman"/>
                <a:cs typeface="Times New Roman"/>
              </a:rPr>
              <a:t>Assessment-</a:t>
            </a:r>
            <a:r>
              <a:rPr lang="en-US" sz="3200" spc="-50" dirty="0">
                <a:solidFill>
                  <a:srgbClr val="000000"/>
                </a:solidFill>
                <a:latin typeface="Times New Roman"/>
                <a:cs typeface="Times New Roman"/>
              </a:rPr>
              <a:t>I </a:t>
            </a:r>
            <a:r>
              <a:rPr lang="en-US" sz="3200" spc="-25" dirty="0">
                <a:solidFill>
                  <a:srgbClr val="000000"/>
                </a:solidFill>
                <a:latin typeface="Times New Roman"/>
                <a:cs typeface="Times New Roman"/>
              </a:rPr>
              <a:t>on</a:t>
            </a:r>
            <a:endParaRPr lang="en-US" sz="3200" dirty="0">
              <a:latin typeface="Times New Roman"/>
              <a:cs typeface="Times New Roman"/>
            </a:endParaRPr>
          </a:p>
          <a:p>
            <a:pPr marL="2540" algn="ctr">
              <a:lnSpc>
                <a:spcPct val="100000"/>
              </a:lnSpc>
            </a:pPr>
            <a:r>
              <a:rPr lang="en-US" sz="3200" dirty="0">
                <a:latin typeface="Times New Roman"/>
                <a:cs typeface="Times New Roman"/>
              </a:rPr>
              <a:t>“</a:t>
            </a:r>
            <a:r>
              <a:rPr lang="en-US" sz="3200" spc="-140" dirty="0">
                <a:latin typeface="Times New Roman"/>
                <a:cs typeface="Times New Roman"/>
              </a:rPr>
              <a:t> </a:t>
            </a:r>
            <a:r>
              <a:rPr lang="en-US" sz="3200" spc="-35" dirty="0">
                <a:solidFill>
                  <a:srgbClr val="000000"/>
                </a:solidFill>
                <a:latin typeface="Times New Roman"/>
                <a:cs typeface="Times New Roman"/>
              </a:rPr>
              <a:t>Random Password Generator in Python</a:t>
            </a:r>
            <a:r>
              <a:rPr lang="en-US" sz="3200" spc="-10" dirty="0">
                <a:latin typeface="Times New Roman"/>
                <a:cs typeface="Times New Roman"/>
              </a:rPr>
              <a:t>”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5150" y="2238120"/>
            <a:ext cx="6595109" cy="8204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under</a:t>
            </a:r>
            <a:r>
              <a:rPr sz="2800" b="1" spc="-12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dirty="0">
                <a:solidFill>
                  <a:srgbClr val="0000FF"/>
                </a:solidFill>
                <a:latin typeface="Times New Roman"/>
                <a:cs typeface="Times New Roman"/>
              </a:rPr>
              <a:t>the</a:t>
            </a:r>
            <a:r>
              <a:rPr sz="2800" b="1" spc="-7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8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course</a:t>
            </a:r>
            <a:endParaRPr sz="28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15"/>
              </a:spcBef>
            </a:pP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Python</a:t>
            </a:r>
            <a:r>
              <a:rPr sz="2400" b="1" spc="-9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00FF"/>
                </a:solidFill>
                <a:latin typeface="Times New Roman"/>
                <a:cs typeface="Times New Roman"/>
              </a:rPr>
              <a:t>Language</a:t>
            </a:r>
            <a:r>
              <a:rPr sz="2400" b="1" spc="-9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00FF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00FF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58825" y="3310932"/>
            <a:ext cx="145224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10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99716" y="3292240"/>
            <a:ext cx="22193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4569" marR="5080" indent="-992505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8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sz="2000">
              <a:latin typeface="Times New Roman"/>
              <a:cs typeface="Times New Roman"/>
            </a:endParaRPr>
          </a:p>
          <a:p>
            <a:pPr marL="2095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Mrs.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Mayuri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Getme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38575" y="3286617"/>
            <a:ext cx="1455566" cy="102441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6697" y="4662423"/>
            <a:ext cx="7976870" cy="2033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15210">
              <a:lnSpc>
                <a:spcPct val="100000"/>
              </a:lnSpc>
              <a:spcBef>
                <a:spcPts val="100"/>
              </a:spcBef>
            </a:pPr>
            <a:r>
              <a:rPr sz="2200" b="1" spc="-10" dirty="0">
                <a:latin typeface="Times New Roman"/>
                <a:cs typeface="Times New Roman"/>
              </a:rPr>
              <a:t>Session:2026-</a:t>
            </a:r>
            <a:r>
              <a:rPr sz="2200" b="1" dirty="0">
                <a:latin typeface="Times New Roman"/>
                <a:cs typeface="Times New Roman"/>
              </a:rPr>
              <a:t>27</a:t>
            </a:r>
            <a:r>
              <a:rPr sz="2200" b="1" spc="-55" dirty="0">
                <a:latin typeface="Times New Roman"/>
                <a:cs typeface="Times New Roman"/>
              </a:rPr>
              <a:t> </a:t>
            </a:r>
            <a:r>
              <a:rPr sz="2200" b="1" dirty="0">
                <a:latin typeface="Times New Roman"/>
                <a:cs typeface="Times New Roman"/>
              </a:rPr>
              <a:t>(ODD</a:t>
            </a:r>
            <a:r>
              <a:rPr sz="2200" b="1" spc="-50" dirty="0">
                <a:latin typeface="Times New Roman"/>
                <a:cs typeface="Times New Roman"/>
              </a:rPr>
              <a:t> )</a:t>
            </a:r>
            <a:endParaRPr sz="2200" dirty="0">
              <a:latin typeface="Times New Roman"/>
              <a:cs typeface="Times New Roman"/>
            </a:endParaRPr>
          </a:p>
          <a:p>
            <a:pPr marL="2287905">
              <a:lnSpc>
                <a:spcPct val="100000"/>
              </a:lnSpc>
              <a:spcBef>
                <a:spcPts val="15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 dirty="0">
              <a:latin typeface="Times New Roman"/>
              <a:cs typeface="Times New Roman"/>
            </a:endParaRPr>
          </a:p>
          <a:p>
            <a:pPr marL="12700">
              <a:lnSpc>
                <a:spcPts val="2340"/>
              </a:lnSpc>
              <a:spcBef>
                <a:spcPts val="635"/>
              </a:spcBef>
            </a:pPr>
            <a:r>
              <a:rPr sz="2000" b="1" dirty="0">
                <a:latin typeface="Times New Roman"/>
                <a:cs typeface="Times New Roman"/>
              </a:rPr>
              <a:t>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JAIN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INSTITUTE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TECHNOLOGY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MANAGEMENT</a:t>
            </a:r>
            <a:r>
              <a:rPr sz="2000" b="1" spc="-15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AND</a:t>
            </a:r>
            <a:endParaRPr sz="2000" dirty="0">
              <a:latin typeface="Times New Roman"/>
              <a:cs typeface="Times New Roman"/>
            </a:endParaRPr>
          </a:p>
          <a:p>
            <a:pPr marL="2265045">
              <a:lnSpc>
                <a:spcPts val="2255"/>
              </a:lnSpc>
            </a:pPr>
            <a:r>
              <a:rPr sz="2000" b="1" spc="-10" dirty="0">
                <a:latin typeface="Times New Roman"/>
                <a:cs typeface="Times New Roman"/>
              </a:rPr>
              <a:t>RESEARCH,NAGPUR</a:t>
            </a:r>
            <a:endParaRPr sz="2000" dirty="0">
              <a:latin typeface="Times New Roman"/>
              <a:cs typeface="Times New Roman"/>
            </a:endParaRPr>
          </a:p>
          <a:p>
            <a:pPr marL="481330">
              <a:lnSpc>
                <a:spcPts val="2315"/>
              </a:lnSpc>
            </a:pPr>
            <a:r>
              <a:rPr sz="2000" b="1" spc="-20" dirty="0">
                <a:latin typeface="Times New Roman"/>
                <a:cs typeface="Times New Roman"/>
              </a:rPr>
              <a:t>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Autonomous</a:t>
            </a:r>
            <a:r>
              <a:rPr sz="2000" b="1" spc="-7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Institute,</a:t>
            </a:r>
            <a:r>
              <a:rPr sz="2000" b="1" spc="-1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Affiliated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to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RTMNU,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Nagpur</a:t>
            </a:r>
            <a:endParaRPr sz="20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1770"/>
              </a:spcBef>
            </a:pPr>
            <a:r>
              <a:rPr sz="14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CB7BA0-5FCF-EC61-0529-8B1E914F398D}"/>
              </a:ext>
            </a:extLst>
          </p:cNvPr>
          <p:cNvSpPr txBox="1"/>
          <p:nvPr/>
        </p:nvSpPr>
        <p:spPr>
          <a:xfrm>
            <a:off x="533400" y="3641132"/>
            <a:ext cx="2362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Bhumika Dandare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CM25012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533401" y="1905000"/>
            <a:ext cx="7437096" cy="34599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indent="-457200">
              <a:lnSpc>
                <a:spcPct val="100000"/>
              </a:lnSpc>
              <a:spcBef>
                <a:spcPts val="100"/>
              </a:spcBef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</a:t>
            </a:r>
            <a:r>
              <a:rPr lang="en-IN" sz="28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Flowchart/pseudocode</a:t>
            </a:r>
          </a:p>
          <a:p>
            <a:pPr marL="46990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3525" algn="l"/>
              </a:tabLst>
            </a:pPr>
            <a:r>
              <a:rPr lang="en-IN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</a:t>
            </a:r>
            <a:r>
              <a:rPr lang="en-IN" sz="28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logic</a:t>
            </a:r>
          </a:p>
          <a:p>
            <a:pPr marL="469265" marR="5080" indent="-457200">
              <a:lnSpc>
                <a:spcPct val="100000"/>
              </a:lnSpc>
              <a:buFont typeface="Wingdings" panose="05000000000000000000" pitchFamily="2" charset="2"/>
              <a:buChar char="Ø"/>
              <a:tabLst>
                <a:tab pos="264160" algn="l"/>
              </a:tabLst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z="28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28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z="28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z="28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405330"/>
            <a:ext cx="3459479" cy="4597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S.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B.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Jain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Institute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1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Technology</a:t>
            </a:r>
            <a:r>
              <a:rPr sz="1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dirty="0">
                <a:solidFill>
                  <a:srgbClr val="FFFFFF"/>
                </a:solidFill>
                <a:latin typeface="Arial MT"/>
                <a:cs typeface="Arial MT"/>
              </a:rPr>
              <a:t>Management</a:t>
            </a:r>
            <a:r>
              <a:rPr sz="1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1200" spc="-25" dirty="0">
                <a:solidFill>
                  <a:srgbClr val="FFFFFF"/>
                </a:solidFill>
                <a:latin typeface="Arial MT"/>
                <a:cs typeface="Arial MT"/>
              </a:rPr>
              <a:t>and </a:t>
            </a:r>
            <a:r>
              <a:rPr sz="1200" spc="-10" dirty="0">
                <a:solidFill>
                  <a:srgbClr val="FFFFFF"/>
                </a:solidFill>
                <a:latin typeface="Arial MT"/>
                <a:cs typeface="Arial MT"/>
              </a:rPr>
              <a:t>research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547CDD1A-8908-40C4-8695-EA02E2C58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2270" y="304800"/>
            <a:ext cx="6399530" cy="9144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839E932-76C5-5702-533F-E6329F838362}"/>
              </a:ext>
            </a:extLst>
          </p:cNvPr>
          <p:cNvSpPr/>
          <p:nvPr/>
        </p:nvSpPr>
        <p:spPr>
          <a:xfrm>
            <a:off x="382270" y="304800"/>
            <a:ext cx="5027930" cy="990600"/>
          </a:xfrm>
          <a:prstGeom prst="roundRect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Content</a:t>
            </a:r>
            <a:endParaRPr lang="en-IN" sz="4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CB720A-484E-0595-D1EE-1DC62E16FA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271" y="304800"/>
            <a:ext cx="1141730" cy="104576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B0DFA-684A-88A2-E84E-F5320FE78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E4995-4E9C-46FA-CAB9-7E09B4C058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905000"/>
            <a:ext cx="8229600" cy="4893647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use passwords for many online accounts.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repeated passwords are easier to guess.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a different strong password for every account can be difficult.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passwords with a combination of different characters.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we developed a Python program that automatically generates customizable passwords. 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can decide the length and character types used in the password.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Types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A–Z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a–z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0–9 </a:t>
            </a:r>
          </a:p>
          <a:p>
            <a:pPr lvl="0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Characters: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@, #, $, %, etc.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CE38FEB-1A63-6136-1959-86D7DE4ACAB1}"/>
              </a:ext>
            </a:extLst>
          </p:cNvPr>
          <p:cNvSpPr/>
          <p:nvPr/>
        </p:nvSpPr>
        <p:spPr>
          <a:xfrm>
            <a:off x="304800" y="304800"/>
            <a:ext cx="7543800" cy="12725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1F8E57-3A46-EC95-42DF-509DA93BE7F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02064"/>
            <a:ext cx="1143000" cy="127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457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84F30-5D32-8AC9-0FD5-0C023B2E8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509F9-57C8-60F7-F669-38A5C73B1A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0050" y="1986647"/>
            <a:ext cx="8343900" cy="3600986"/>
          </a:xfrm>
        </p:spPr>
        <p:txBody>
          <a:bodyPr/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practical application using Python.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passwords automatically using random character selection.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allow users to customize password length.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different character-selection options.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Python concepts through a real-world problem.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conditions, loops, functions and modules.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learn secure random generation using the secrets module.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experience with GitHub and version control.</a:t>
            </a:r>
          </a:p>
          <a:p>
            <a:endParaRPr lang="en-IN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FBD5DE8-1727-F149-E4E8-6F418CA951AD}"/>
              </a:ext>
            </a:extLst>
          </p:cNvPr>
          <p:cNvSpPr/>
          <p:nvPr/>
        </p:nvSpPr>
        <p:spPr>
          <a:xfrm>
            <a:off x="304801" y="152400"/>
            <a:ext cx="6400800" cy="14249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Objectives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E5918E-64C5-1C2B-AE9E-17DAFC660B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152400"/>
            <a:ext cx="1483640" cy="1424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44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2B5CC-C8B8-066E-4B6D-968D84069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F1D41B-69C7-3D24-0CD0-63BB696E4F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2057400"/>
            <a:ext cx="8305800" cy="3693319"/>
          </a:xfrm>
        </p:spPr>
        <p:txBody>
          <a:bodyPr/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1: Start the program.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2: Ask the user to enter the required password length.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3: Ask the user whether to include: Uppercase letters Lowercase letters Numbers Special symbols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4: Create an empty character set.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5: Add the selected character types to the character set.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6: Check whether the character set is empty. If Yes, display "Please select at least one character type" and stop. If No, continue.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7: Randomly select characters from the character set until the required password length is reached.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8: Display the generated password. 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 9: End the program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C8289CE-D308-F8E6-D9A9-79044012ADF5}"/>
              </a:ext>
            </a:extLst>
          </p:cNvPr>
          <p:cNvSpPr/>
          <p:nvPr/>
        </p:nvSpPr>
        <p:spPr>
          <a:xfrm>
            <a:off x="457200" y="304800"/>
            <a:ext cx="6172200" cy="12725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4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  <a:endParaRPr lang="en-IN" sz="44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7B7F74-91E4-F1B6-FCA5-6A41EA83DC9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271559"/>
            <a:ext cx="1447799" cy="1305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3810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A8D0F-333F-C660-6484-E937D93FD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820748-350A-2BC7-E8B8-2F2BA6E56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676400"/>
            <a:ext cx="8305800" cy="46482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6F0D48-CAAB-9D2C-0583-30B4611E4753}"/>
              </a:ext>
            </a:extLst>
          </p:cNvPr>
          <p:cNvSpPr/>
          <p:nvPr/>
        </p:nvSpPr>
        <p:spPr>
          <a:xfrm>
            <a:off x="457200" y="381000"/>
            <a:ext cx="7315200" cy="11963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Flowchart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67D7C24-42FF-49D7-BFEE-F02183CFE44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381000"/>
            <a:ext cx="1676399" cy="1196340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960AAD89-938D-CA22-52FE-E2AAA4B47504}"/>
              </a:ext>
            </a:extLst>
          </p:cNvPr>
          <p:cNvSpPr/>
          <p:nvPr/>
        </p:nvSpPr>
        <p:spPr>
          <a:xfrm>
            <a:off x="2743200" y="1829696"/>
            <a:ext cx="2362200" cy="10668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39058CC-6FF4-DDD3-843A-752C5016B14C}"/>
              </a:ext>
            </a:extLst>
          </p:cNvPr>
          <p:cNvCxnSpPr>
            <a:cxnSpLocks/>
          </p:cNvCxnSpPr>
          <p:nvPr/>
        </p:nvCxnSpPr>
        <p:spPr>
          <a:xfrm>
            <a:off x="3810000" y="2896496"/>
            <a:ext cx="0" cy="3039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Data 15">
            <a:extLst>
              <a:ext uri="{FF2B5EF4-FFF2-40B4-BE49-F238E27FC236}">
                <a16:creationId xmlns:a16="http://schemas.microsoft.com/office/drawing/2014/main" id="{52D1FA88-E87A-6E69-0510-E681C2529221}"/>
              </a:ext>
            </a:extLst>
          </p:cNvPr>
          <p:cNvSpPr/>
          <p:nvPr/>
        </p:nvSpPr>
        <p:spPr>
          <a:xfrm>
            <a:off x="1773028" y="3208834"/>
            <a:ext cx="4073943" cy="924194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Password Length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454A93-975A-43AE-0CB9-E75BD64E0D19}"/>
              </a:ext>
            </a:extLst>
          </p:cNvPr>
          <p:cNvCxnSpPr>
            <a:stCxn id="16" idx="4"/>
          </p:cNvCxnSpPr>
          <p:nvPr/>
        </p:nvCxnSpPr>
        <p:spPr>
          <a:xfrm flipH="1">
            <a:off x="3809999" y="4133028"/>
            <a:ext cx="1" cy="3627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Flowchart: Data 18">
            <a:extLst>
              <a:ext uri="{FF2B5EF4-FFF2-40B4-BE49-F238E27FC236}">
                <a16:creationId xmlns:a16="http://schemas.microsoft.com/office/drawing/2014/main" id="{A62DFC8B-95D8-E735-DF45-74A0EE0B421F}"/>
              </a:ext>
            </a:extLst>
          </p:cNvPr>
          <p:cNvSpPr/>
          <p:nvPr/>
        </p:nvSpPr>
        <p:spPr>
          <a:xfrm>
            <a:off x="1503577" y="4515465"/>
            <a:ext cx="4343394" cy="157734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Character Types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Lowercase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</a:t>
            </a:r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76210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F0D7D-2961-7C3A-2EF2-BFC6461A4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8F4F92-9540-CA12-3D49-850E0E072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228600"/>
            <a:ext cx="8458200" cy="589788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8EA84650-1422-6312-3F79-AC7E553B101E}"/>
              </a:ext>
            </a:extLst>
          </p:cNvPr>
          <p:cNvSpPr/>
          <p:nvPr/>
        </p:nvSpPr>
        <p:spPr>
          <a:xfrm>
            <a:off x="3581400" y="381000"/>
            <a:ext cx="609600" cy="756920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A</a:t>
            </a:r>
            <a:endParaRPr lang="en-IN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99EF42-4A28-DFF9-7785-1A4E2CBD2FFF}"/>
              </a:ext>
            </a:extLst>
          </p:cNvPr>
          <p:cNvCxnSpPr>
            <a:stCxn id="4" idx="2"/>
          </p:cNvCxnSpPr>
          <p:nvPr/>
        </p:nvCxnSpPr>
        <p:spPr>
          <a:xfrm>
            <a:off x="3886200" y="1137920"/>
            <a:ext cx="0" cy="2336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AD9025FF-571B-0724-DF9B-7844A3BD12DC}"/>
              </a:ext>
            </a:extLst>
          </p:cNvPr>
          <p:cNvSpPr/>
          <p:nvPr/>
        </p:nvSpPr>
        <p:spPr>
          <a:xfrm>
            <a:off x="1752604" y="1371600"/>
            <a:ext cx="4378747" cy="756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Character Set from selected types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F74FB69-817A-8DDE-A214-7EDB9520B9CC}"/>
              </a:ext>
            </a:extLst>
          </p:cNvPr>
          <p:cNvCxnSpPr>
            <a:cxnSpLocks/>
          </p:cNvCxnSpPr>
          <p:nvPr/>
        </p:nvCxnSpPr>
        <p:spPr>
          <a:xfrm>
            <a:off x="3886200" y="2128520"/>
            <a:ext cx="0" cy="3098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Flowchart: Decision 15">
            <a:extLst>
              <a:ext uri="{FF2B5EF4-FFF2-40B4-BE49-F238E27FC236}">
                <a16:creationId xmlns:a16="http://schemas.microsoft.com/office/drawing/2014/main" id="{77E9DF82-503C-3F5F-B7BE-5F66F0EF0072}"/>
              </a:ext>
            </a:extLst>
          </p:cNvPr>
          <p:cNvSpPr/>
          <p:nvPr/>
        </p:nvSpPr>
        <p:spPr>
          <a:xfrm>
            <a:off x="2505078" y="2471420"/>
            <a:ext cx="2762244" cy="1490980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character set empty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CBEC612-BF2C-92B8-ECC3-5C290EE2B536}"/>
              </a:ext>
            </a:extLst>
          </p:cNvPr>
          <p:cNvCxnSpPr>
            <a:stCxn id="16" idx="2"/>
          </p:cNvCxnSpPr>
          <p:nvPr/>
        </p:nvCxnSpPr>
        <p:spPr>
          <a:xfrm>
            <a:off x="3886200" y="3962400"/>
            <a:ext cx="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3AD49BA7-E53D-F8C7-5E79-6B9A4B47EB2E}"/>
              </a:ext>
            </a:extLst>
          </p:cNvPr>
          <p:cNvCxnSpPr/>
          <p:nvPr/>
        </p:nvCxnSpPr>
        <p:spPr>
          <a:xfrm>
            <a:off x="2362200" y="4343400"/>
            <a:ext cx="3429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B878D8A-AC6D-7A95-7EA0-8937304A1607}"/>
              </a:ext>
            </a:extLst>
          </p:cNvPr>
          <p:cNvCxnSpPr>
            <a:cxnSpLocks/>
          </p:cNvCxnSpPr>
          <p:nvPr/>
        </p:nvCxnSpPr>
        <p:spPr>
          <a:xfrm>
            <a:off x="2362200" y="43434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A249FAB3-F2D1-A65E-1489-632B2DDA977C}"/>
              </a:ext>
            </a:extLst>
          </p:cNvPr>
          <p:cNvCxnSpPr/>
          <p:nvPr/>
        </p:nvCxnSpPr>
        <p:spPr>
          <a:xfrm>
            <a:off x="5791200" y="4343400"/>
            <a:ext cx="0" cy="2286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6" name="Flowchart: Data 25">
            <a:extLst>
              <a:ext uri="{FF2B5EF4-FFF2-40B4-BE49-F238E27FC236}">
                <a16:creationId xmlns:a16="http://schemas.microsoft.com/office/drawing/2014/main" id="{E032DE1E-7A92-FC02-C16E-407A859DF666}"/>
              </a:ext>
            </a:extLst>
          </p:cNvPr>
          <p:cNvSpPr/>
          <p:nvPr/>
        </p:nvSpPr>
        <p:spPr>
          <a:xfrm>
            <a:off x="685803" y="4606457"/>
            <a:ext cx="2895590" cy="1296296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Error: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Please select at least one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charecter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Flowchart: Data 26">
            <a:extLst>
              <a:ext uri="{FF2B5EF4-FFF2-40B4-BE49-F238E27FC236}">
                <a16:creationId xmlns:a16="http://schemas.microsoft.com/office/drawing/2014/main" id="{06F2AC69-55EE-1564-9553-87EE489B3A36}"/>
              </a:ext>
            </a:extLst>
          </p:cNvPr>
          <p:cNvSpPr/>
          <p:nvPr/>
        </p:nvSpPr>
        <p:spPr>
          <a:xfrm>
            <a:off x="4308474" y="4628534"/>
            <a:ext cx="3082925" cy="1296291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random</a:t>
            </a:r>
          </a:p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until required length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789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28D4A-4EC0-2F54-103D-061246C8B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0395C-6C43-A052-A10D-0B72A03C4D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8534400" cy="59436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Flowchart: Off-page Connector 3">
            <a:extLst>
              <a:ext uri="{FF2B5EF4-FFF2-40B4-BE49-F238E27FC236}">
                <a16:creationId xmlns:a16="http://schemas.microsoft.com/office/drawing/2014/main" id="{B6022149-5B8F-ED1B-A7FE-0F7587B7306B}"/>
              </a:ext>
            </a:extLst>
          </p:cNvPr>
          <p:cNvSpPr/>
          <p:nvPr/>
        </p:nvSpPr>
        <p:spPr>
          <a:xfrm>
            <a:off x="3505200" y="685800"/>
            <a:ext cx="609600" cy="756920"/>
          </a:xfrm>
          <a:prstGeom prst="flowChartOffpageConnec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37D162F-DCBD-6F59-B520-D241D6C7F4B6}"/>
              </a:ext>
            </a:extLst>
          </p:cNvPr>
          <p:cNvCxnSpPr>
            <a:stCxn id="4" idx="2"/>
          </p:cNvCxnSpPr>
          <p:nvPr/>
        </p:nvCxnSpPr>
        <p:spPr>
          <a:xfrm>
            <a:off x="3810000" y="1442720"/>
            <a:ext cx="0" cy="3860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2946EE9-2EE5-D060-4727-50BED7516834}"/>
              </a:ext>
            </a:extLst>
          </p:cNvPr>
          <p:cNvCxnSpPr/>
          <p:nvPr/>
        </p:nvCxnSpPr>
        <p:spPr>
          <a:xfrm>
            <a:off x="2039724" y="1828800"/>
            <a:ext cx="415015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11D270E-956E-1451-6500-744369BC7557}"/>
              </a:ext>
            </a:extLst>
          </p:cNvPr>
          <p:cNvCxnSpPr/>
          <p:nvPr/>
        </p:nvCxnSpPr>
        <p:spPr>
          <a:xfrm>
            <a:off x="2039724" y="182880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B9E7BF-7EEC-722C-814E-00AC4CAE6973}"/>
              </a:ext>
            </a:extLst>
          </p:cNvPr>
          <p:cNvCxnSpPr/>
          <p:nvPr/>
        </p:nvCxnSpPr>
        <p:spPr>
          <a:xfrm>
            <a:off x="6156400" y="1828800"/>
            <a:ext cx="0" cy="381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C8A67D4-1DE1-6C10-D381-AF8EDFBD3BCA}"/>
              </a:ext>
            </a:extLst>
          </p:cNvPr>
          <p:cNvSpPr/>
          <p:nvPr/>
        </p:nvSpPr>
        <p:spPr>
          <a:xfrm>
            <a:off x="1600201" y="2285999"/>
            <a:ext cx="914391" cy="457199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96EAA97-767C-C3E4-2BC0-E5775C4C4CDE}"/>
              </a:ext>
            </a:extLst>
          </p:cNvPr>
          <p:cNvSpPr/>
          <p:nvPr/>
        </p:nvSpPr>
        <p:spPr>
          <a:xfrm>
            <a:off x="4970677" y="2217172"/>
            <a:ext cx="2514598" cy="838182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the generate password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950176-2C6E-516B-8BC1-2BBFD7F68D3C}"/>
              </a:ext>
            </a:extLst>
          </p:cNvPr>
          <p:cNvCxnSpPr>
            <a:cxnSpLocks/>
            <a:stCxn id="16" idx="2"/>
          </p:cNvCxnSpPr>
          <p:nvPr/>
        </p:nvCxnSpPr>
        <p:spPr>
          <a:xfrm>
            <a:off x="6227976" y="3055354"/>
            <a:ext cx="0" cy="38101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20A18CB-CFBB-3F17-1A78-1FEFAD1C70D1}"/>
              </a:ext>
            </a:extLst>
          </p:cNvPr>
          <p:cNvSpPr/>
          <p:nvPr/>
        </p:nvSpPr>
        <p:spPr>
          <a:xfrm>
            <a:off x="5524502" y="3428981"/>
            <a:ext cx="1371600" cy="533400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64055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2E383-6917-2A7E-14E8-A42CA62BD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585FA-8C52-A71E-EEEE-841B98EF4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1905000"/>
            <a:ext cx="8343900" cy="4154984"/>
          </a:xfrm>
        </p:spPr>
        <p:txBody>
          <a:bodyPr/>
          <a:lstStyle/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IN" b="1" dirty="0"/>
              <a:t>Variables:</a:t>
            </a:r>
            <a:r>
              <a:rPr lang="en-IN" dirty="0"/>
              <a:t> Used to store information such as password length and the generated password. </a:t>
            </a:r>
          </a:p>
          <a:p>
            <a:pPr lvl="0"/>
            <a:r>
              <a:rPr lang="en-IN" b="1" dirty="0"/>
              <a:t>Input:</a:t>
            </a:r>
            <a:r>
              <a:rPr lang="en-IN" dirty="0"/>
              <a:t> The input() function is used to take the required password length and choices from the user. </a:t>
            </a:r>
          </a:p>
          <a:p>
            <a:pPr lvl="0"/>
            <a:r>
              <a:rPr lang="en-IN" b="1" dirty="0"/>
              <a:t>If Condition:</a:t>
            </a:r>
            <a:r>
              <a:rPr lang="en-IN" dirty="0"/>
              <a:t> Used to check which types of characters the user wants to include. </a:t>
            </a:r>
          </a:p>
          <a:p>
            <a:pPr lvl="0"/>
            <a:r>
              <a:rPr lang="en-IN" b="1" dirty="0"/>
              <a:t>Loop:</a:t>
            </a:r>
            <a:r>
              <a:rPr lang="en-IN" dirty="0"/>
              <a:t> Used to repeatedly select characters until the required password length is reached. </a:t>
            </a:r>
          </a:p>
          <a:p>
            <a:pPr lvl="0"/>
            <a:r>
              <a:rPr lang="en-IN" b="1" dirty="0"/>
              <a:t>Function:</a:t>
            </a:r>
            <a:r>
              <a:rPr lang="en-IN" dirty="0"/>
              <a:t> Helps organize the password-generation process into a reusable block of code. </a:t>
            </a:r>
          </a:p>
          <a:p>
            <a:pPr lvl="0"/>
            <a:r>
              <a:rPr lang="en-IN" b="1" dirty="0"/>
              <a:t>String:</a:t>
            </a:r>
            <a:r>
              <a:rPr lang="en-IN" dirty="0"/>
              <a:t> Used to handle letters, numbers, and special characters. </a:t>
            </a:r>
          </a:p>
          <a:p>
            <a:pPr lvl="0"/>
            <a:r>
              <a:rPr lang="en-IN" b="1" dirty="0"/>
              <a:t>Modules:</a:t>
            </a:r>
            <a:r>
              <a:rPr lang="en-IN" dirty="0"/>
              <a:t> The string and secrets modules provide useful features for password generation. </a:t>
            </a:r>
          </a:p>
          <a:p>
            <a:pPr lvl="0"/>
            <a:r>
              <a:rPr lang="en-IN" b="1" dirty="0"/>
              <a:t>Random Selection:</a:t>
            </a:r>
            <a:r>
              <a:rPr lang="en-IN" dirty="0"/>
              <a:t> </a:t>
            </a:r>
            <a:r>
              <a:rPr lang="en-IN" dirty="0" err="1"/>
              <a:t>secrets.choice</a:t>
            </a:r>
            <a:r>
              <a:rPr lang="en-IN" dirty="0"/>
              <a:t>() selects a character randomly from the available character set.</a:t>
            </a:r>
          </a:p>
          <a:p>
            <a:pPr lvl="0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5CAF54F9-6930-7860-D23D-096DFD070B1F}"/>
              </a:ext>
            </a:extLst>
          </p:cNvPr>
          <p:cNvSpPr/>
          <p:nvPr/>
        </p:nvSpPr>
        <p:spPr>
          <a:xfrm>
            <a:off x="457200" y="457200"/>
            <a:ext cx="8077200" cy="1066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Python Logic</a:t>
            </a:r>
            <a:endParaRPr lang="en-IN" sz="32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AED037F-ED84-1A6D-187F-A487EC6ED9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1" y="442452"/>
            <a:ext cx="1066800" cy="106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37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FECE5-2A81-D7C0-A124-FE1349A19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D74220-2D69-6E23-E6FE-67B31CBB4B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1752600"/>
            <a:ext cx="8534400" cy="10668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repository is an online storage space where the project’s Python code, files, documentation, and version history are maintained. A commit records project changes with a clear message, such as “Added password generation logic”, making the project history easy to understand</a:t>
            </a:r>
            <a:r>
              <a:rPr lang="en-IN" dirty="0"/>
              <a:t>. 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32C8132-40AC-63A0-E1B6-CD430EA15FE2}"/>
              </a:ext>
            </a:extLst>
          </p:cNvPr>
          <p:cNvSpPr/>
          <p:nvPr/>
        </p:nvSpPr>
        <p:spPr>
          <a:xfrm>
            <a:off x="417246" y="388374"/>
            <a:ext cx="8421954" cy="119634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              </a:t>
            </a:r>
            <a:r>
              <a:rPr lang="en-I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r>
              <a:rPr lang="en-IN" sz="18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z="18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18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z="1800" spc="-2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z="18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z="18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8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18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72E7FA-DF13-69EB-0AC3-F4501C71E7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994" y="381000"/>
            <a:ext cx="1290091" cy="12160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B66C530-ECC3-0C4A-ED58-F83D7358BF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96496"/>
            <a:ext cx="8382000" cy="3275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352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pc="-70" dirty="0"/>
              <a:t>Phase – 2 </a:t>
            </a:r>
            <a:endParaRPr spc="-70" dirty="0"/>
          </a:p>
        </p:txBody>
      </p:sp>
      <p:sp>
        <p:nvSpPr>
          <p:cNvPr id="3" name="object 3"/>
          <p:cNvSpPr txBox="1"/>
          <p:nvPr/>
        </p:nvSpPr>
        <p:spPr>
          <a:xfrm>
            <a:off x="483424" y="6355916"/>
            <a:ext cx="575627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S.</a:t>
            </a:r>
            <a:r>
              <a:rPr sz="1800" spc="-25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B.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Jain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Institute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of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Technology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Management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dirty="0">
                <a:solidFill>
                  <a:srgbClr val="8B8B8B"/>
                </a:solidFill>
                <a:latin typeface="Cambria"/>
                <a:cs typeface="Cambria"/>
              </a:rPr>
              <a:t>and</a:t>
            </a:r>
            <a:r>
              <a:rPr sz="1800" spc="-20" dirty="0">
                <a:solidFill>
                  <a:srgbClr val="8B8B8B"/>
                </a:solidFill>
                <a:latin typeface="Cambria"/>
                <a:cs typeface="Cambria"/>
              </a:rPr>
              <a:t> </a:t>
            </a:r>
            <a:r>
              <a:rPr sz="1800" spc="-10" dirty="0">
                <a:solidFill>
                  <a:srgbClr val="8B8B8B"/>
                </a:solidFill>
                <a:latin typeface="Cambria"/>
                <a:cs typeface="Cambria"/>
              </a:rPr>
              <a:t>research</a:t>
            </a:r>
            <a:endParaRPr sz="1800">
              <a:latin typeface="Cambria"/>
              <a:cs typeface="Cambria"/>
            </a:endParaRPr>
          </a:p>
        </p:txBody>
      </p:sp>
      <p:sp>
        <p:nvSpPr>
          <p:cNvPr id="4" name="Arrow: Right 3">
            <a:extLst>
              <a:ext uri="{FF2B5EF4-FFF2-40B4-BE49-F238E27FC236}">
                <a16:creationId xmlns:a16="http://schemas.microsoft.com/office/drawing/2014/main" id="{3DC3775A-290F-81A3-9B77-8624F3294178}"/>
              </a:ext>
            </a:extLst>
          </p:cNvPr>
          <p:cNvSpPr/>
          <p:nvPr/>
        </p:nvSpPr>
        <p:spPr>
          <a:xfrm>
            <a:off x="6131351" y="3032640"/>
            <a:ext cx="978408" cy="48463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56EB35-C813-88C0-09FA-635A97AD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524000"/>
            <a:ext cx="7010400" cy="689668"/>
          </a:xfrm>
        </p:spPr>
        <p:txBody>
          <a:bodyPr/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Basic password generation does not provide complete customization and strength checking.</a:t>
            </a:r>
            <a:b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1800" b="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1371CB-07B1-9A70-08D2-3133036AE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04800"/>
            <a:ext cx="7315200" cy="75692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F360C1-DC0D-D6BA-4A11-7737644AA4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02064"/>
            <a:ext cx="762000" cy="763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60B1156-2DF4-2F4D-3D40-1CAAC10516D7}"/>
              </a:ext>
            </a:extLst>
          </p:cNvPr>
          <p:cNvSpPr txBox="1"/>
          <p:nvPr/>
        </p:nvSpPr>
        <p:spPr>
          <a:xfrm>
            <a:off x="388620" y="3039070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br>
              <a:rPr lang="en-IN" sz="1800" b="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92E512-6320-1D28-1095-E20BB7038335}"/>
              </a:ext>
            </a:extLst>
          </p:cNvPr>
          <p:cNvSpPr txBox="1"/>
          <p:nvPr/>
        </p:nvSpPr>
        <p:spPr>
          <a:xfrm>
            <a:off x="457200" y="2133600"/>
            <a:ext cx="7696200" cy="23845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flexibility to select password length and character types.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passwords of different strength levels requires additional options.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need a simple way to check password strength.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multiple passwords individually can be time-consuming.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may need an option to save generated passwords for reference.</a:t>
            </a:r>
          </a:p>
          <a:p>
            <a:pPr lvl="0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the project is enhanced with strength-based generation, password checking, multiple password generation, input validation, and file saving.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16677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87B3E7-26D6-43CD-ED0A-0D248FEBD9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8153400" y="1295400"/>
            <a:ext cx="609600" cy="76199"/>
          </a:xfrm>
        </p:spPr>
        <p:txBody>
          <a:bodyPr/>
          <a:lstStyle/>
          <a:p>
            <a:pPr lvl="0"/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43269E-9945-4B79-99E2-1E3AC58D06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304800"/>
            <a:ext cx="7467600" cy="10668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Objectives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4DF271-90C1-C87B-FD9C-DCCF67AA3BD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67902"/>
            <a:ext cx="1143001" cy="11036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0C0FB8-24E8-7BBF-9215-1DB0A9AD51A7}"/>
              </a:ext>
            </a:extLst>
          </p:cNvPr>
          <p:cNvSpPr txBox="1"/>
          <p:nvPr/>
        </p:nvSpPr>
        <p:spPr>
          <a:xfrm>
            <a:off x="381000" y="1905000"/>
            <a:ext cx="79248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functional Random Password Generator using Python.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secure passwords using the secrets module.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customizable password length and character selection.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Easy, Moderate, and Strong password presets.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password strength using different criteria.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multiple passwords in a single execution.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save generated passwords in a text file.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apply Object-Oriented Programming and exception handling.</a:t>
            </a:r>
          </a:p>
          <a:p>
            <a:pPr marL="285750" lvl="0" indent="-285750">
              <a:buFont typeface="Wingdings" panose="05000000000000000000" pitchFamily="2" charset="2"/>
              <a:buChar char="q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practical experience with GitHub and version control.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82797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721E3-C99C-64A1-09E8-D8C0D390CB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447800"/>
            <a:ext cx="8534400" cy="307777"/>
          </a:xfrm>
        </p:spPr>
        <p:txBody>
          <a:bodyPr/>
          <a:lstStyle/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AC88B5-7904-627D-D9A4-5FB05BA251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75260"/>
            <a:ext cx="8610600" cy="12954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Python Code-Password Generation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C84BA1D-2C80-02D5-7281-A004BC41B7D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175260"/>
            <a:ext cx="1219200" cy="1295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18863BD-E68D-AD34-8B89-4062F4CA01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773382"/>
            <a:ext cx="8382000" cy="4170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7916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113BC-25AC-23EB-B9F9-EA709EB74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ED3784-8B44-8B1A-6588-F3880C03D7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47800"/>
            <a:ext cx="8534400" cy="4724400"/>
          </a:xfrm>
          <a:prstGeom prst="rect">
            <a:avLst/>
          </a:prstGeom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70E4A693-DF32-425E-B10A-EEA8C6B9B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398746"/>
            <a:ext cx="8534400" cy="6810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      Python Code-Strength Checker</a:t>
            </a:r>
            <a:endParaRPr lang="en-IN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641CE70-A9AF-1543-DE67-119F958F1E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398746"/>
            <a:ext cx="1143001" cy="68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1490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ECF580-FE77-5F1A-6660-8D3CE4636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1" y="1421594"/>
            <a:ext cx="8229599" cy="4064806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B8A8266-23BE-0737-7A5B-C5A5ECE0DD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83142"/>
            <a:ext cx="74676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</a:rPr>
              <a:t>Output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6111605-5F36-D0A8-BBA2-4BD397E7B9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150" y="259815"/>
            <a:ext cx="1066800" cy="90654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636EAF-7AE9-A6B2-8A2C-57DAB43EFA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832" y="1166357"/>
            <a:ext cx="8229599" cy="255604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3218AC0-EE06-7EAB-582F-703FE5FA8F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279" y="3788373"/>
            <a:ext cx="8305799" cy="2455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8926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D880-F77A-34DF-B2DE-94F311CC8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01000" y="685800"/>
            <a:ext cx="1219200" cy="76200"/>
          </a:xfrm>
        </p:spPr>
        <p:txBody>
          <a:bodyPr/>
          <a:lstStyle/>
          <a:p>
            <a:pPr lvl="0">
              <a:lnSpc>
                <a:spcPct val="150000"/>
              </a:lnSpc>
            </a:pPr>
            <a:endParaRPr lang="en-IN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98D662-D4A4-B12D-D0CA-C2C32CBD8A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381000"/>
            <a:ext cx="7086600" cy="990600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32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Python Logic</a:t>
            </a:r>
            <a:endParaRPr lang="en-IN" sz="32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A4DF60B-4E8C-3F4D-EEA7-FF03665939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381000"/>
            <a:ext cx="1143001" cy="10668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F41F4EF-5138-985E-94C2-63F60CA663D6}"/>
              </a:ext>
            </a:extLst>
          </p:cNvPr>
          <p:cNvSpPr txBox="1"/>
          <p:nvPr/>
        </p:nvSpPr>
        <p:spPr>
          <a:xfrm>
            <a:off x="457200" y="1752600"/>
            <a:ext cx="80772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Class and Objects:</a:t>
            </a:r>
            <a:r>
              <a:rPr lang="en-IN" dirty="0"/>
              <a:t> The </a:t>
            </a:r>
            <a:r>
              <a:rPr lang="en-IN" dirty="0" err="1"/>
              <a:t>PasswordGenerator</a:t>
            </a:r>
            <a:r>
              <a:rPr lang="en-IN" dirty="0"/>
              <a:t> class organizes the password generation functions.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Character Pool:</a:t>
            </a:r>
            <a:r>
              <a:rPr lang="en-IN" dirty="0"/>
              <a:t> The string module provides lowercase letters, uppercase letters, digits, and symbols.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Random Selection:</a:t>
            </a:r>
            <a:r>
              <a:rPr lang="en-IN" dirty="0"/>
              <a:t> The secrets module selects characters securely for generating passwords.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Conditional Statements:</a:t>
            </a:r>
            <a:r>
              <a:rPr lang="en-IN" dirty="0"/>
              <a:t> if-else statements check user choices and selected character categories.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Loops:</a:t>
            </a:r>
            <a:r>
              <a:rPr lang="en-IN" dirty="0"/>
              <a:t> Loops generate passwords, collect required characters, and repeat the process when needed.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Password Strength:</a:t>
            </a:r>
            <a:r>
              <a:rPr lang="en-IN" dirty="0"/>
              <a:t> The </a:t>
            </a:r>
            <a:r>
              <a:rPr lang="en-IN" dirty="0" err="1"/>
              <a:t>check_strength</a:t>
            </a:r>
            <a:r>
              <a:rPr lang="en-IN" dirty="0"/>
              <a:t>() method checks password length and character types to classify its strength.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Functions and Methods:</a:t>
            </a:r>
            <a:r>
              <a:rPr lang="en-IN" dirty="0"/>
              <a:t> Separate methods make the program modular, organized, and easier to understand.</a:t>
            </a:r>
          </a:p>
          <a:p>
            <a:pPr marL="285750" lvl="0" indent="-285750">
              <a:buFont typeface="Wingdings" panose="05000000000000000000" pitchFamily="2" charset="2"/>
              <a:buChar char="ü"/>
            </a:pPr>
            <a:r>
              <a:rPr lang="en-IN" b="1" dirty="0"/>
              <a:t>File Handling:</a:t>
            </a:r>
            <a:r>
              <a:rPr lang="en-IN" dirty="0"/>
              <a:t> The program can optionally save generated passwords in generated_passwords.txt.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77043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FF6AA-0A5B-7B27-9E3E-7CE5ACB3A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1828800"/>
            <a:ext cx="8458200" cy="4495800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0BE509A-1BD0-B6E8-3966-5581E74F9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0" y="221218"/>
            <a:ext cx="8001000" cy="1157764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GitHub</a:t>
            </a:r>
            <a:r>
              <a:rPr lang="en-IN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pc="-2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sz="32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6C7E19-E1B0-D96E-7CF2-2AA1CA998DC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355" y="221218"/>
            <a:ext cx="1143000" cy="11577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FE7D96-0864-4748-5C29-D69905211A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676400"/>
            <a:ext cx="8305800" cy="45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9776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D401A-1FB2-EC13-C27D-9D2312B99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62200" y="2896496"/>
            <a:ext cx="3769151" cy="738664"/>
          </a:xfrm>
        </p:spPr>
        <p:txBody>
          <a:bodyPr/>
          <a:lstStyle/>
          <a:p>
            <a:r>
              <a:rPr lang="en-US" spc="-70" dirty="0"/>
              <a:t>Phase – 3</a:t>
            </a:r>
            <a:r>
              <a:rPr lang="en-US" dirty="0"/>
              <a:t> 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97A156-4069-8EC6-BE99-3D3E7734C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276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8961A29C-5B19-1BA9-38DA-605A9895832E}"/>
              </a:ext>
            </a:extLst>
          </p:cNvPr>
          <p:cNvSpPr/>
          <p:nvPr/>
        </p:nvSpPr>
        <p:spPr>
          <a:xfrm>
            <a:off x="5562600" y="3023512"/>
            <a:ext cx="978408" cy="484632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3407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C91692-3CB8-9F1F-53D6-624073C43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5410200" cy="584775"/>
          </a:xfrm>
        </p:spPr>
        <p:txBody>
          <a:bodyPr/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Implementation, Testing and Deployment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BF10E6B4-48A5-D4AC-68BF-DAC25FFC18B7}"/>
              </a:ext>
            </a:extLst>
          </p:cNvPr>
          <p:cNvSpPr txBox="1">
            <a:spLocks/>
          </p:cNvSpPr>
          <p:nvPr/>
        </p:nvSpPr>
        <p:spPr>
          <a:xfrm>
            <a:off x="304800" y="351246"/>
            <a:ext cx="8534400" cy="6810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0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Final Project Implementation</a:t>
            </a:r>
            <a:endParaRPr lang="en-IN" sz="4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A42E164-85EC-4C67-E4D0-735B6C0E140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58928"/>
            <a:ext cx="729685" cy="6810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B516BEE-1DF1-C647-D444-325D3B9127E0}"/>
              </a:ext>
            </a:extLst>
          </p:cNvPr>
          <p:cNvSpPr txBox="1"/>
          <p:nvPr/>
        </p:nvSpPr>
        <p:spPr>
          <a:xfrm>
            <a:off x="457200" y="1880175"/>
            <a:ext cx="8229600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Python-based password generator.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customizable password generation.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password strength checking and input validation.</a:t>
            </a:r>
          </a:p>
          <a:p>
            <a:pPr marL="457200" lvl="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Organized the project files in GitHub.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Tested the application for correct functionality</a:t>
            </a:r>
            <a:r>
              <a:rPr lang="en-IN" dirty="0"/>
              <a:t>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/>
              <a:t> 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password strength checking and input validation.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Added options to generate multiple passwords and save them in a text file.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1061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1AABE0-5A63-8A64-E04A-1F92FBDA6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733EE0-D1D7-19CB-DAEF-CB21B6399F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3970318"/>
          </a:xfrm>
        </p:spPr>
        <p:txBody>
          <a:bodyPr/>
          <a:lstStyle/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Customizable password length.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Uppercase and lowercase letters.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Numbers and special symbols.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Easy, Moderate and Strong presets.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Password strength checker.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password generation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 to save passwords in a text file.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validation and exception handling.</a:t>
            </a:r>
          </a:p>
          <a:p>
            <a:endParaRPr lang="en-IN" dirty="0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13494B6-135A-09E0-17A3-04561055961B}"/>
              </a:ext>
            </a:extLst>
          </p:cNvPr>
          <p:cNvSpPr txBox="1">
            <a:spLocks/>
          </p:cNvSpPr>
          <p:nvPr/>
        </p:nvSpPr>
        <p:spPr>
          <a:xfrm>
            <a:off x="304800" y="283142"/>
            <a:ext cx="74676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Final Feature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426EB55-8699-DCB0-CA58-EBB26AFF23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3141"/>
            <a:ext cx="729685" cy="81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220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2BB337-C7B3-A689-53AC-94686B3EE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061976-A467-FA0D-C40D-DA060966A1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654B79-FFC4-7B6C-875F-81F0E7AB845F}"/>
              </a:ext>
            </a:extLst>
          </p:cNvPr>
          <p:cNvSpPr txBox="1">
            <a:spLocks/>
          </p:cNvSpPr>
          <p:nvPr/>
        </p:nvSpPr>
        <p:spPr>
          <a:xfrm>
            <a:off x="304800" y="283142"/>
            <a:ext cx="83820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From Code to Creation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2CA29B7-D968-3D45-3F86-4CFAFA1F97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3141"/>
            <a:ext cx="990600" cy="817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374F143-98C8-BEF1-3F6C-B7ABE7578E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77" y="1577636"/>
            <a:ext cx="8193823" cy="453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1282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2EF3B-E28C-ED8C-9212-D60CAAD3C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51EDA-EA9E-7F70-3ECA-B4F982E4E3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DCF19E-575D-4A66-858D-7AC343F8A688}"/>
              </a:ext>
            </a:extLst>
          </p:cNvPr>
          <p:cNvSpPr txBox="1">
            <a:spLocks/>
          </p:cNvSpPr>
          <p:nvPr/>
        </p:nvSpPr>
        <p:spPr>
          <a:xfrm>
            <a:off x="304800" y="283142"/>
            <a:ext cx="74676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Output And Testing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BF3C1C-1AF7-F130-ED93-F62EBA4BEE1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3141"/>
            <a:ext cx="990600" cy="817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5C126AA-4646-1D28-AA6A-58520E468C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423" y="1550902"/>
            <a:ext cx="8142387" cy="4316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9878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24549C-6EDE-23CC-07FA-5A4A2FFEC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BE9C61-8842-E747-5D1D-79DB9210D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C50B7EEA-EF08-7E5C-4AD2-47161BE7BD29}"/>
              </a:ext>
            </a:extLst>
          </p:cNvPr>
          <p:cNvSpPr txBox="1">
            <a:spLocks/>
          </p:cNvSpPr>
          <p:nvPr/>
        </p:nvSpPr>
        <p:spPr>
          <a:xfrm>
            <a:off x="304800" y="283142"/>
            <a:ext cx="74676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Strength Checker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E9CC0A-940C-FBB3-8534-901F973068E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3141"/>
            <a:ext cx="990600" cy="8172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AE129D3-C4E6-8ABA-A692-864D202590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1448015"/>
            <a:ext cx="8458200" cy="4800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80371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19D78-F04A-4455-B6AF-2F99D9857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49941A-A6BE-9652-9D72-5E56CE1060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3D98B02-2B96-BFC2-4CB5-6DB0EEF63755}"/>
              </a:ext>
            </a:extLst>
          </p:cNvPr>
          <p:cNvSpPr txBox="1">
            <a:spLocks/>
          </p:cNvSpPr>
          <p:nvPr/>
        </p:nvSpPr>
        <p:spPr>
          <a:xfrm>
            <a:off x="152400" y="426402"/>
            <a:ext cx="8763000" cy="681038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GitHub</a:t>
            </a:r>
            <a:r>
              <a:rPr lang="en-IN" sz="20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account,</a:t>
            </a:r>
            <a:r>
              <a:rPr lang="en-IN" sz="20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repository</a:t>
            </a:r>
            <a:r>
              <a:rPr lang="en-IN" sz="20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creation,</a:t>
            </a:r>
            <a:r>
              <a:rPr lang="en-IN" sz="20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uploading</a:t>
            </a:r>
            <a:r>
              <a:rPr lang="en-IN" sz="20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code,</a:t>
            </a:r>
            <a:r>
              <a:rPr lang="en-IN" sz="2000" spc="-5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meaningful</a:t>
            </a:r>
            <a:r>
              <a:rPr lang="en-IN" sz="2000" spc="-45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commits, </a:t>
            </a:r>
            <a:r>
              <a:rPr lang="en-IN" sz="2000" spc="-2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collaboration,</a:t>
            </a:r>
            <a:r>
              <a:rPr lang="en-IN" sz="20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individual</a:t>
            </a:r>
            <a:r>
              <a:rPr lang="en-IN" sz="2000" spc="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000" spc="-1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contribution</a:t>
            </a:r>
            <a:endParaRPr lang="en-IN" sz="20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9ECF73-288F-E54E-02F3-2BCDF7849D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450515"/>
            <a:ext cx="685800" cy="65692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48F6149-18D2-23EE-44EC-140872652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0" y="1323640"/>
            <a:ext cx="8382000" cy="4696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33939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BD70-C636-3A85-6845-515D728C1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079208-728D-DF3B-538E-58169C1E6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430887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developed a Python-based password generator.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Python concepts such as classes, functions, loops and conditional statements.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Learned secure random selection using the secrets module.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Gained practical experience with testing and GitHub.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browser-based version.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the user interface.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further password customization options.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Package the desktop application for easier distribution</a:t>
            </a:r>
            <a:r>
              <a:rPr lang="en-US" dirty="0"/>
              <a:t>.</a:t>
            </a:r>
            <a:endParaRPr lang="en-IN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168030-3E6E-5746-C4DA-ACCD19AE9FDB}"/>
              </a:ext>
            </a:extLst>
          </p:cNvPr>
          <p:cNvSpPr txBox="1">
            <a:spLocks/>
          </p:cNvSpPr>
          <p:nvPr/>
        </p:nvSpPr>
        <p:spPr>
          <a:xfrm>
            <a:off x="304800" y="283142"/>
            <a:ext cx="7467600" cy="817245"/>
          </a:xfrm>
          <a:prstGeom prst="round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lvl1pPr marL="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4800" b="1" dirty="0">
                <a:ln w="12700">
                  <a:solidFill>
                    <a:schemeClr val="accent5"/>
                  </a:solidFill>
                  <a:prstDash val="solid"/>
                </a:ln>
                <a:pattFill prst="ltDnDiag">
                  <a:fgClr>
                    <a:schemeClr val="accent5">
                      <a:lumMod val="60000"/>
                      <a:lumOff val="40000"/>
                    </a:schemeClr>
                  </a:fgClr>
                  <a:bgClr>
                    <a:schemeClr val="bg1"/>
                  </a:bgClr>
                </a:patt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800" b="1" dirty="0">
              <a:ln w="12700">
                <a:solidFill>
                  <a:schemeClr val="accent5"/>
                </a:solidFill>
                <a:prstDash val="solid"/>
              </a:ln>
              <a:pattFill prst="ltDnDiag">
                <a:fgClr>
                  <a:schemeClr val="accent5">
                    <a:lumMod val="60000"/>
                    <a:lumOff val="40000"/>
                  </a:schemeClr>
                </a:fgClr>
                <a:bgClr>
                  <a:schemeClr val="bg1"/>
                </a:bgClr>
              </a:patt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4BCE923-87F5-8DBE-BAE9-FA05368A76E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283141"/>
            <a:ext cx="990600" cy="817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5792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0387-5A7B-F4D2-CC5D-A853F50F8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2896496"/>
            <a:ext cx="3997751" cy="1477328"/>
          </a:xfrm>
        </p:spPr>
        <p:txBody>
          <a:bodyPr/>
          <a:lstStyle/>
          <a:p>
            <a:r>
              <a:rPr lang="en-US" dirty="0"/>
              <a:t>Thank You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B8FFE-C3A4-2E3A-EB25-687465BBA0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577340"/>
            <a:ext cx="8229600" cy="276999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839101-1505-BE2A-A1B9-E17668038EA0}"/>
              </a:ext>
            </a:extLst>
          </p:cNvPr>
          <p:cNvSpPr txBox="1"/>
          <p:nvPr/>
        </p:nvSpPr>
        <p:spPr>
          <a:xfrm>
            <a:off x="5257800" y="2896497"/>
            <a:ext cx="1143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400" dirty="0">
                <a:effectLst/>
              </a:rPr>
              <a:t>🙏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1586146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308</TotalTime>
  <Words>1201</Words>
  <Application>Microsoft Office PowerPoint</Application>
  <PresentationFormat>On-screen Show (4:3)</PresentationFormat>
  <Paragraphs>159</Paragraphs>
  <Slides>27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Arial MT</vt:lpstr>
      <vt:lpstr>Calibri</vt:lpstr>
      <vt:lpstr>Cambria</vt:lpstr>
      <vt:lpstr>Times New Roman</vt:lpstr>
      <vt:lpstr>Wingdings</vt:lpstr>
      <vt:lpstr>Office Theme</vt:lpstr>
      <vt:lpstr>Experiential Learning Project Assessment-I on “ Random Password Generator in Python”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– 2 </vt:lpstr>
      <vt:lpstr>Basic password generation does not provide complete customization and strength checking.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– 3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[Template] PPT Format  -PPL.pptx</dc:title>
  <cp:lastModifiedBy>bhushan dandare</cp:lastModifiedBy>
  <cp:revision>7</cp:revision>
  <dcterms:created xsi:type="dcterms:W3CDTF">2026-08-15T15:27:10Z</dcterms:created>
  <dcterms:modified xsi:type="dcterms:W3CDTF">2026-10-11T11:46:05Z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2026-08-15T00:00:00Z</vt:filetime>
  </property>
  <property fmtid="{D5CDD505-2E9C-101B-9397-08002B2CF9AE}" pid="4" name="Creator">
    <vt:lpwstr>Google</vt:lpwstr>
  </property>
  <property fmtid="{D5CDD505-2E9C-101B-9397-08002B2CF9AE}" pid="5" name="LastSaved">
    <vt:filetime>2026-08-15T00:00:00Z</vt:filetime>
  </property>
</Properties>
</file>